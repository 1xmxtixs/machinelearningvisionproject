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RECONOCIMIENTO DE PATRONES VISUALES</a:t>
            </a:r>
            <a:br/>
            <a:r>
              <a:t>EN MEDICINA: BLOODMNIST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657600"/>
            <a:ext cx="2286000" cy="7315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EA5E9"/>
                </a:solidFill>
                <a:latin typeface="Arial"/>
              </a:defRPr>
            </a:pPr>
            <a:r>
              <a:t>Adaptación Arquitectónica para Clasificación Celular en Resolución Nativa mediante ResNet-18 (Hito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Curso: Aprendizaje de Máquinas y Visión Artificial (ADM)</a:t>
            </a:r>
          </a:p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Estudiante: [Nombre del Estudiante]  |  UNAB - Universidad Andrés Bello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Contexto Clínico y Definición del Problema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1E293B"/>
                </a:solidFill>
                <a:latin typeface="Arial"/>
              </a:rPr>
              <a:t>•  El Hemograma Completo: </a:t>
            </a:r>
            <a:r>
              <a:rPr sz="1500">
                <a:solidFill>
                  <a:srgbClr val="64748B"/>
                </a:solidFill>
                <a:latin typeface="Arial"/>
              </a:rPr>
              <a:t>Es uno de los exámenes médicos más ordenados en el mundo. Permite evaluar el estado inmunológico, hematológico y descartar patologías críticas.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293B"/>
                </a:solidFill>
                <a:latin typeface="Arial"/>
              </a:rPr>
              <a:t>•  El Análisis de Frotis: </a:t>
            </a:r>
            <a:r>
              <a:rPr sz="1500">
                <a:solidFill>
                  <a:srgbClr val="64748B"/>
                </a:solidFill>
                <a:latin typeface="Arial"/>
              </a:rPr>
              <a:t>Consiste en extender una gota de sangre en un portaobjetos y analizar microscópicamente la morfología celular. Es el 'gold standard' para confirmar diagnósticos.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293B"/>
                </a:solidFill>
                <a:latin typeface="Arial"/>
              </a:rPr>
              <a:t>•  El Problema del Conteo Manual: </a:t>
            </a:r>
            <a:r>
              <a:rPr sz="1500">
                <a:solidFill>
                  <a:srgbClr val="64748B"/>
                </a:solidFill>
                <a:latin typeface="Arial"/>
              </a:rPr>
              <a:t>El escaneo y clasificación visual manual por tecnólogos es sumamente lento (10-15 min por frotis), depende de la subjetividad del analista y induce fatiga visual severa en laboratorios saturados.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63040"/>
            <a:ext cx="5303520" cy="45720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7373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EA5E9"/>
                </a:solidFill>
                <a:latin typeface="Arial"/>
              </a:defRPr>
            </a:pPr>
            <a:r>
              <a:t>LA SOLUCIÓN PROPUESTA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293B"/>
                </a:solidFill>
                <a:latin typeface="Arial"/>
              </a:rPr>
              <a:t>•  Automatización Inteligente: </a:t>
            </a:r>
            <a:r>
              <a:rPr sz="1500">
                <a:solidFill>
                  <a:srgbClr val="64748B"/>
                </a:solidFill>
                <a:latin typeface="Arial"/>
              </a:rPr>
              <a:t>Desarrollar un sistema de Visión Artificial basado en Redes Neuronales Convolucionales (CNN) capaz de procesar imágenes microscópicas y clasificar células de forma instantánea.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293B"/>
                </a:solidFill>
                <a:latin typeface="Arial"/>
              </a:rPr>
              <a:t>•  Estandarización y Apoyo: </a:t>
            </a:r>
            <a:r>
              <a:rPr sz="1500">
                <a:solidFill>
                  <a:srgbClr val="64748B"/>
                </a:solidFill>
                <a:latin typeface="Arial"/>
              </a:rPr>
              <a:t>Proporcionar una herramienta diagnóstica CAD (Computer-Aided Diagnosis) que asista al profesional reduciendo la subjetividad y agilizando las respuestas críticas en laboratorios de urgencia.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Importancia y Relevancia Médica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4114800" cy="4572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566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¿Por qué es crucial diferenciar con precisión cada tipo de célula?</a:t>
            </a:r>
          </a:p>
          <a:p>
            <a:pPr>
              <a:defRPr sz="1500">
                <a:solidFill>
                  <a:srgbClr val="64748B"/>
                </a:solidFill>
                <a:latin typeface="Arial"/>
              </a:defRPr>
            </a:pPr>
            <a:r>
              <a:t>La correcta clasificación es el umbral de decisión para el médico hematólogo. Pequeños errores en tipos específicos como blastos o granulocitos inmaduros retrasan tratamientos que salvan vidas.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463040"/>
            <a:ext cx="6705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1E293B"/>
                </a:solidFill>
                <a:latin typeface="Arial"/>
              </a:rPr>
              <a:t>•  Infecciones e Inflamación: </a:t>
            </a:r>
            <a:r>
              <a:rPr sz="1500">
                <a:solidFill>
                  <a:srgbClr val="64748B"/>
                </a:solidFill>
                <a:latin typeface="Arial"/>
              </a:rPr>
              <a:t>El aumento de Neutrófilos señala típicamente infecciones bacterianas, mientras que variaciones en Linfocitos revelan respuestas virales.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293B"/>
                </a:solidFill>
                <a:latin typeface="Arial"/>
              </a:rPr>
              <a:t>•  Leucemia y Precursores: </a:t>
            </a:r>
            <a:r>
              <a:rPr sz="1500">
                <a:solidFill>
                  <a:srgbClr val="64748B"/>
                </a:solidFill>
                <a:latin typeface="Arial"/>
              </a:rPr>
              <a:t>La presencia de Granulocitos Inmaduros (mielocitos, promielocitos) y Eritroblastos en sangre periférica es un fuerte indicador de leucemias agudas, anemias severas o disfunción de médula ósea.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293B"/>
                </a:solidFill>
                <a:latin typeface="Arial"/>
              </a:rPr>
              <a:t>•  Alergias y Parasitosis: </a:t>
            </a:r>
            <a:r>
              <a:rPr sz="1500">
                <a:solidFill>
                  <a:srgbClr val="64748B"/>
                </a:solidFill>
                <a:latin typeface="Arial"/>
              </a:rPr>
              <a:t>Los Eosinófilos y Basófilos regulan respuestas alérgicas sistémicas y defensas contra infecciones parasitarias.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293B"/>
                </a:solidFill>
                <a:latin typeface="Arial"/>
              </a:rPr>
              <a:t>•  Trombocitopenia y Hemorragias: </a:t>
            </a:r>
            <a:r>
              <a:rPr sz="1500">
                <a:solidFill>
                  <a:srgbClr val="64748B"/>
                </a:solidFill>
                <a:latin typeface="Arial"/>
              </a:rPr>
              <a:t>El conteo morfológico exacto de Plaquetas previene hemorragias fatales y guía transfusiones en pacientes oncológicos.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El Dataset: BloodMNIST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1E293B"/>
                </a:solidFill>
                <a:latin typeface="Arial"/>
              </a:rPr>
              <a:t>•  Origen y Curaduría: </a:t>
            </a:r>
            <a:r>
              <a:rPr sz="1500">
                <a:solidFill>
                  <a:srgbClr val="64748B"/>
                </a:solidFill>
                <a:latin typeface="Arial"/>
              </a:rPr>
              <a:t>Pertenece a la plataforma oficial de benchmark médico MedMNIST v3.0.2. Contiene capturas de frotis de sangre de individuos sin infecciones ni quimioterapia activa.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293B"/>
                </a:solidFill>
                <a:latin typeface="Arial"/>
              </a:rPr>
              <a:t>•  Resolución de Entrada: </a:t>
            </a:r>
            <a:r>
              <a:rPr sz="1500">
                <a:solidFill>
                  <a:srgbClr val="64748B"/>
                </a:solidFill>
                <a:latin typeface="Arial"/>
              </a:rPr>
              <a:t>Resolución nativa estricta de 28x28 píxeles a color (RGB de 3 canales), lo que reduce el costo computacional y permite su implementación en sistemas empotrados o móviles.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293B"/>
                </a:solidFill>
                <a:latin typeface="Arial"/>
              </a:rPr>
              <a:t>•  Estructuración Hold-Out: </a:t>
            </a:r>
            <a:r>
              <a:rPr sz="1500">
                <a:solidFill>
                  <a:srgbClr val="64748B"/>
                </a:solidFill>
                <a:latin typeface="Arial"/>
              </a:rPr>
              <a:t>La división oficial del dataset garantiza la reproducibilidad de los resultados, con una proporción estándar del 70% entrenamiento, 10% validación y 20% prueba.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63040"/>
            <a:ext cx="5303520" cy="11887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5544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Entrenamiento (Train):  </a:t>
            </a:r>
            <a:r>
              <a:rPr sz="1400" b="1">
                <a:solidFill>
                  <a:srgbClr val="0EA5E9"/>
                </a:solidFill>
              </a:rPr>
              <a:t>11,959 imágenes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Para el aprendizaje de representaciones morfológicas.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926080"/>
            <a:ext cx="5303520" cy="11887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30175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Validación (Val):  </a:t>
            </a:r>
            <a:r>
              <a:rPr sz="1400" b="1">
                <a:solidFill>
                  <a:srgbClr val="0EA5E9"/>
                </a:solidFill>
              </a:rPr>
              <a:t>1,712 imágenes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Para ajuste fino de hiperparámetros y control de overfitting.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389120"/>
            <a:ext cx="5303520" cy="11887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448056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Prueba (Test):  </a:t>
            </a:r>
            <a:r>
              <a:rPr sz="1400" b="1">
                <a:solidFill>
                  <a:srgbClr val="0EA5E9"/>
                </a:solidFill>
              </a:rPr>
              <a:t>3,421 imágenes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Independiente, usado exclusivamente para la evaluación final.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EDA: Análisis Estadístico y Balance de Clases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5943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011680"/>
                <a:gridCol w="2194560"/>
                <a:gridCol w="1188720"/>
              </a:tblGrid>
              <a:tr h="50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Clase (EN)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Clase (ES)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Muestras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basophil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Basófilo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852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eosinophil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Eosinófilo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2,181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erythroblast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Eritroblasto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1,085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immature granulocytes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Granulocito Inmaduro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2,026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lymphocyte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Linfocito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849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monocyte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Monocito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993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neutrophil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Neutrófilo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2,330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platelet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Plaqueta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1,643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3040"/>
            <a:ext cx="5029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Muestras Visuales Celulares (28x28 px)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1E293B"/>
                </a:solidFill>
                <a:latin typeface="Arial"/>
              </a:rPr>
              <a:t>•  Plaquetas (Platelets): </a:t>
            </a:r>
            <a:r>
              <a:rPr sz="1500">
                <a:solidFill>
                  <a:srgbClr val="64748B"/>
                </a:solidFill>
                <a:latin typeface="Arial"/>
              </a:rPr>
              <a:t>Fácilmente identificables por escala. Son extremadamente pequeñas y carecen de núcleo.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293B"/>
                </a:solidFill>
                <a:latin typeface="Arial"/>
              </a:rPr>
              <a:t>•  Eosinófilos: </a:t>
            </a:r>
            <a:r>
              <a:rPr sz="1500">
                <a:solidFill>
                  <a:srgbClr val="64748B"/>
                </a:solidFill>
                <a:latin typeface="Arial"/>
              </a:rPr>
              <a:t>Destacan visualmente por una intensa tinción citoplasmática rosa/anaranjada muy granulada.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293B"/>
                </a:solidFill>
                <a:latin typeface="Arial"/>
              </a:rPr>
              <a:t>•  Neutrófilos: </a:t>
            </a:r>
            <a:r>
              <a:rPr sz="1500">
                <a:solidFill>
                  <a:srgbClr val="64748B"/>
                </a:solidFill>
                <a:latin typeface="Arial"/>
              </a:rPr>
              <a:t>Se caracterizan por sus núcleos divididos en múltiples lóbulos conectados.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293B"/>
                </a:solidFill>
                <a:latin typeface="Arial"/>
              </a:rPr>
              <a:t>•  Monocitos y Linfocitos: </a:t>
            </a:r>
            <a:r>
              <a:rPr sz="1500">
                <a:solidFill>
                  <a:srgbClr val="64748B"/>
                </a:solidFill>
                <a:latin typeface="Arial"/>
              </a:rPr>
              <a:t>Células mononucleares grandes con núcleos redondeados o escotados (arriñonados en monocitos).</a:t>
            </a:r>
          </a:p>
        </p:txBody>
      </p:sp>
      <p:pic>
        <p:nvPicPr>
          <p:cNvPr id="5" name="Picture 4" descr="cell_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46304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Diseño Experimental y Métricas de Evaluación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1E293B"/>
                </a:solidFill>
                <a:latin typeface="Arial"/>
              </a:rPr>
              <a:t>•  Diseño Experimental: </a:t>
            </a:r>
            <a:r>
              <a:rPr sz="1500">
                <a:solidFill>
                  <a:srgbClr val="64748B"/>
                </a:solidFill>
                <a:latin typeface="Arial"/>
              </a:rPr>
              <a:t>Esquema hold-out estándar. Los conjuntos son complementarios e independientes para asegurar que el modelo generalice correctamente ante datos nunca vistos.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293B"/>
                </a:solidFill>
                <a:latin typeface="Arial"/>
              </a:rPr>
              <a:t>•  Data Augmentation: </a:t>
            </a:r>
            <a:r>
              <a:rPr sz="1500">
                <a:solidFill>
                  <a:srgbClr val="64748B"/>
                </a:solidFill>
                <a:latin typeface="Arial"/>
              </a:rPr>
              <a:t>Para evitar el sobreajuste celular, se aplican rotaciones de 15°, giros aleatorios y Color Jitter leve en brillo y contraste.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293B"/>
                </a:solidFill>
                <a:latin typeface="Arial"/>
              </a:rPr>
              <a:t>•  Entrenamiento Estable: </a:t>
            </a:r>
            <a:r>
              <a:rPr sz="1500">
                <a:solidFill>
                  <a:srgbClr val="64748B"/>
                </a:solidFill>
                <a:latin typeface="Arial"/>
              </a:rPr>
              <a:t>Se configura un batch size de 64 y optimizador Adam con decaimiento de pesos de 1e-4 para controlar regularización.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EA5E9"/>
                </a:solidFill>
                <a:latin typeface="Arial"/>
              </a:defRPr>
            </a:pPr>
            <a:r>
              <a:t>MÉTRICAS SELECCIONADAS (RÚBRICA EXIGIDA)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293B"/>
                </a:solidFill>
                <a:latin typeface="Arial"/>
              </a:rPr>
              <a:t>•  1. Exactitud (Accuracy): </a:t>
            </a:r>
            <a:r>
              <a:rPr sz="1500">
                <a:solidFill>
                  <a:srgbClr val="64748B"/>
                </a:solidFill>
                <a:latin typeface="Arial"/>
              </a:rPr>
              <a:t>Porcentaje de predicciones correctas sobre el total. Métrica estándar de desempeño.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293B"/>
                </a:solidFill>
                <a:latin typeface="Arial"/>
              </a:rPr>
              <a:t>•  2. F1-Score Ponderado: </a:t>
            </a:r>
            <a:r>
              <a:rPr sz="1500">
                <a:solidFill>
                  <a:srgbClr val="64748B"/>
                </a:solidFill>
                <a:latin typeface="Arial"/>
              </a:rPr>
              <a:t>Combina precisión y recall ponderado por el soporte de cada clase. Controla desbalances.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293B"/>
                </a:solidFill>
                <a:latin typeface="Arial"/>
              </a:rPr>
              <a:t>•  3. AUC-ROC Macro: </a:t>
            </a:r>
            <a:r>
              <a:rPr sz="1500">
                <a:solidFill>
                  <a:srgbClr val="64748B"/>
                </a:solidFill>
                <a:latin typeface="Arial"/>
              </a:rPr>
              <a:t>Evalúa la calidad del modelo ordenando probabilidades para clasificación multiclase. Extremadamente robusta.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Baseline CNN: ResNet-18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1E293B"/>
                </a:solidFill>
                <a:latin typeface="Arial"/>
              </a:rPr>
              <a:t>•  ResNet-18 Pre-entrenada: </a:t>
            </a:r>
            <a:r>
              <a:rPr sz="1500">
                <a:solidFill>
                  <a:srgbClr val="64748B"/>
                </a:solidFill>
                <a:latin typeface="Arial"/>
              </a:rPr>
              <a:t>Modelo convolucional clásico de 18 capas con conexiones residuales (*shortcut connections*) que solucionan la desvanescencia del gradiente.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293B"/>
                </a:solidFill>
                <a:latin typeface="Arial"/>
              </a:rPr>
              <a:t>•  Transfer Learning: </a:t>
            </a:r>
            <a:r>
              <a:rPr sz="1500">
                <a:solidFill>
                  <a:srgbClr val="64748B"/>
                </a:solidFill>
                <a:latin typeface="Arial"/>
              </a:rPr>
              <a:t>Se aprovechan los filtros visuales universales (bordes, curvas, texturas) aprendidos en el dataset ImageNet de 1 millón de imágenes.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293B"/>
                </a:solidFill>
                <a:latin typeface="Arial"/>
              </a:rPr>
              <a:t>•  Estrategia de Entrenamiento: </a:t>
            </a:r>
            <a:r>
              <a:rPr sz="1500">
                <a:solidFill>
                  <a:srgbClr val="64748B"/>
                </a:solidFill>
                <a:latin typeface="Arial"/>
              </a:rPr>
              <a:t>Entrenamiento en dos fases para una convergencia rápida y controlada sin dañar los pesos originales.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63040"/>
            <a:ext cx="5303520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64592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EA5E9"/>
                </a:solidFill>
                <a:latin typeface="Arial"/>
              </a:defRPr>
            </a:pPr>
            <a:r>
              <a:t>FASE 1: Extracción de Características</a:t>
            </a:r>
          </a:p>
          <a:p>
            <a:pPr>
              <a:defRPr sz="1300">
                <a:solidFill>
                  <a:srgbClr val="1E293B"/>
                </a:solidFill>
                <a:latin typeface="Arial"/>
              </a:defRPr>
            </a:pPr>
            <a:r>
              <a:t>Congelación total del modelo base convolucional. Solo se entrena la cabeza clasificadora lineal adaptada a 8 clases durante 5 épocas con lr = 1e-3.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931920"/>
            <a:ext cx="5303520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41148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EA5E9"/>
                </a:solidFill>
                <a:latin typeface="Arial"/>
              </a:defRPr>
            </a:pPr>
            <a:r>
              <a:t>FASE 2: Ajuste Fino (Fine-Tuning)</a:t>
            </a:r>
          </a:p>
          <a:p>
            <a:pPr>
              <a:defRPr sz="1300">
                <a:solidFill>
                  <a:srgbClr val="1E293B"/>
                </a:solidFill>
                <a:latin typeface="Arial"/>
              </a:defRPr>
            </a:pPr>
            <a:r>
              <a:t>Descongelación del último bloque profundo convolucional (layer4) para adaptar los filtros avanzados de alto nivel a morfología microscópica (7 épocas, lr = 1e-5).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El Reto de la Resolución Nativa y Nuestra Innovación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1E293B"/>
                </a:solidFill>
                <a:latin typeface="Arial"/>
              </a:rPr>
              <a:t>•  El Colapso de Información: </a:t>
            </a:r>
            <a:r>
              <a:rPr sz="1500">
                <a:solidFill>
                  <a:srgbClr val="64748B"/>
                </a:solidFill>
                <a:latin typeface="Arial"/>
              </a:rPr>
              <a:t>ResNet-18 reduce la escala de la imagen 5 veces a la mitad (división por 32). Al ingresar 28x28 píxeles nativos, el mapa colapsa a 1x1 muy temprano en la red.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293B"/>
                </a:solidFill>
                <a:latin typeface="Arial"/>
              </a:rPr>
              <a:t>•  Destrucción de Estructura: </a:t>
            </a:r>
            <a:r>
              <a:rPr sz="1500">
                <a:solidFill>
                  <a:srgbClr val="64748B"/>
                </a:solidFill>
                <a:latin typeface="Arial"/>
              </a:rPr>
              <a:t>En la red estándar, al llegar a la capa 4 profunda, no hay estructura espacial que analizar, solo un píxel promedio. El baseline nativo estándar rinde apenas al 75.07% de Accuracy.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293B"/>
                </a:solidFill>
                <a:latin typeface="Arial"/>
              </a:rPr>
              <a:t>•  La Regla de 'Exclusivamente 28x28': </a:t>
            </a:r>
            <a:r>
              <a:rPr sz="1500">
                <a:solidFill>
                  <a:srgbClr val="64748B"/>
                </a:solidFill>
                <a:latin typeface="Arial"/>
              </a:rPr>
              <a:t>Para cumplir rigurosamente con la rúbrica y no reescalar artificialmente en el transform ( Resize(224) ), aplicamos una re-estructuración ad-hoc.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463040"/>
            <a:ext cx="5303520" cy="4572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7373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EA5E9"/>
                </a:solidFill>
                <a:latin typeface="Arial"/>
              </a:defRPr>
            </a:pPr>
            <a:r>
              <a:rPr>
                <a:solidFill>
                  <a:srgbClr val="64748B"/>
                </a:solidFill>
              </a:rPr>
              <a:t>NUESTRA SOLUCIÓN AD-HOC DE DISEÑO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•  1. Rediseño de conv1: </a:t>
            </a:r>
            <a:r>
              <a:rPr sz="1500">
                <a:solidFill>
                  <a:srgbClr val="64748B"/>
                </a:solidFill>
                <a:latin typeface="Arial"/>
              </a:rPr>
              <a:t>Reemplazamos conv1 (7x7, stride 2) por un kernel de 3x3 con stride 1 y padding 1. Conserva la resolución espacial de 28x28 al entrar.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•  2. Eliminación de maxpool: </a:t>
            </a:r>
            <a:r>
              <a:rPr sz="1500">
                <a:solidFill>
                  <a:srgbClr val="64748B"/>
                </a:solidFill>
                <a:latin typeface="Arial"/>
              </a:rPr>
              <a:t>Reemplazamos maxpool por nn.Identity(). Al llegar a layer4, el mapa retiene un tamaño de 4x4 píxeles (16x más información espacial)!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•  3. Adaptación del Flujo: </a:t>
            </a:r>
            <a:r>
              <a:rPr sz="1500">
                <a:solidFill>
                  <a:srgbClr val="64748B"/>
                </a:solidFill>
                <a:latin typeface="Arial"/>
              </a:rPr>
              <a:t>Habilitamos el entrenamiento de conv1 desde el inicio como un adaptador espacial dinámico. El rendimiento subió de forma contundente.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Resultados: Curvas de Pérdida y Exactitud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1E293B"/>
                </a:solidFill>
                <a:latin typeface="Arial"/>
              </a:rPr>
              <a:t>•  Fase 1 de Extracción: </a:t>
            </a:r>
            <a:r>
              <a:rPr sz="1500">
                <a:solidFill>
                  <a:srgbClr val="64748B"/>
                </a:solidFill>
                <a:latin typeface="Arial"/>
              </a:rPr>
              <a:t>Exactitud de validación alcanza un asombroso 85.11% en la época 5 (frente al 70.09% de la red estándar). Valida de inmediato la retención de características espaciales.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293B"/>
                </a:solidFill>
                <a:latin typeface="Arial"/>
              </a:rPr>
              <a:t>•  Fase 2 de Fine-Tuning: </a:t>
            </a:r>
            <a:r>
              <a:rPr sz="1500">
                <a:solidFill>
                  <a:srgbClr val="64748B"/>
                </a:solidFill>
                <a:latin typeface="Arial"/>
              </a:rPr>
              <a:t>Al descongelar layer4 y conv1, la red sigue aprendiendo suavemente. La precisión de validación sube a 92.23% en la época 12.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293B"/>
                </a:solidFill>
                <a:latin typeface="Arial"/>
              </a:rPr>
              <a:t>•  Cero Overfitting: </a:t>
            </a:r>
            <a:r>
              <a:rPr sz="1500">
                <a:solidFill>
                  <a:srgbClr val="64748B"/>
                </a:solidFill>
                <a:latin typeface="Arial"/>
              </a:rPr>
              <a:t>Las pérdidas en validación y entrenamiento descienden en paralelo de forma fluida. Se valida el uso de Data Augmentation y Dropout.</a:t>
            </a:r>
          </a:p>
        </p:txBody>
      </p:sp>
      <p:pic>
        <p:nvPicPr>
          <p:cNvPr id="5" name="Picture 4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46304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Métricas en el Conjunto de Prueba (Test)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1E293B"/>
                </a:solidFill>
                <a:latin typeface="Arial"/>
              </a:rPr>
              <a:t>•  Rendimiento en Test (3,421 imág.): </a:t>
            </a:r>
            <a:r>
              <a:rPr sz="1500">
                <a:solidFill>
                  <a:srgbClr val="64748B"/>
                </a:solidFill>
                <a:latin typeface="Arial"/>
              </a:rPr>
              <a:t>Las métricas sobre datos independientes de prueba demuestran la altísima robustez de la red adaptada en escala nativa.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293B"/>
                </a:solidFill>
                <a:latin typeface="Arial"/>
              </a:rPr>
              <a:t>•  ¡Superando a la Escala de 128x128!: </a:t>
            </a:r>
            <a:r>
              <a:rPr sz="1500">
                <a:solidFill>
                  <a:srgbClr val="64748B"/>
                </a:solidFill>
                <a:latin typeface="Arial"/>
              </a:rPr>
              <a:t>Nuestra red 28x28 (91.38%) superó en +4.42% a la red reescalada bilinealmente a 128x128 (86.96%).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293B"/>
                </a:solidFill>
                <a:latin typeface="Arial"/>
              </a:rPr>
              <a:t>•  Explicación Científica: </a:t>
            </a:r>
            <a:r>
              <a:rPr sz="1500">
                <a:solidFill>
                  <a:srgbClr val="64748B"/>
                </a:solidFill>
                <a:latin typeface="Arial"/>
              </a:rPr>
              <a:t>Reescalar imágenes microscópicas de 28 a 128 introduce borrosidad artificial. La escala nativa retiene texturas puras de alta frecuencia que mejoran la discriminación.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63040"/>
            <a:ext cx="5303520" cy="11887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5544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4748B"/>
                </a:solidFill>
                <a:latin typeface="Arial"/>
              </a:defRPr>
            </a:pPr>
            <a:r>
              <a:t>EXACTITUD (ACCURACY)</a:t>
            </a:r>
          </a:p>
          <a:p>
            <a:pPr>
              <a:defRPr sz="4000" b="1">
                <a:solidFill>
                  <a:srgbClr val="0EA5E9"/>
                </a:solidFill>
                <a:latin typeface="Arial"/>
              </a:defRPr>
            </a:pPr>
            <a:r>
              <a:t>91.38%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926080"/>
            <a:ext cx="5303520" cy="11887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30175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4748B"/>
                </a:solidFill>
                <a:latin typeface="Arial"/>
              </a:defRPr>
            </a:pPr>
            <a:r>
              <a:t>F1-SCORE PONDERADO</a:t>
            </a:r>
          </a:p>
          <a:p>
            <a:pPr>
              <a:defRPr sz="4000" b="1">
                <a:solidFill>
                  <a:srgbClr val="0EA5E9"/>
                </a:solidFill>
                <a:latin typeface="Arial"/>
              </a:defRPr>
            </a:pPr>
            <a:r>
              <a:t>91.40%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389120"/>
            <a:ext cx="5303520" cy="11887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448056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4748B"/>
                </a:solidFill>
                <a:latin typeface="Arial"/>
              </a:defRPr>
            </a:pPr>
            <a:r>
              <a:t>AUC-ROC MACRO</a:t>
            </a:r>
          </a:p>
          <a:p>
            <a:pPr>
              <a:defRPr sz="4000" b="1">
                <a:solidFill>
                  <a:srgbClr val="0EA5E9"/>
                </a:solidFill>
                <a:latin typeface="Arial"/>
              </a:defRPr>
            </a:pPr>
            <a:r>
              <a:t>99.21%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Rendimiento Morfológico por Clase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1E293B"/>
                </a:solidFill>
                <a:latin typeface="Arial"/>
              </a:rPr>
              <a:t>•  Plaquetas (Platelets - F1: 1.00): </a:t>
            </a:r>
            <a:r>
              <a:rPr sz="1500">
                <a:solidFill>
                  <a:srgbClr val="64748B"/>
                </a:solidFill>
                <a:latin typeface="Arial"/>
              </a:rPr>
              <a:t>Detección 100% perfecta. 470 plaquetas de prueba clasificadas con 100% precisión y 100% recall.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293B"/>
                </a:solidFill>
                <a:latin typeface="Arial"/>
              </a:rPr>
              <a:t>•  El 'Rescate' de Monocitos: </a:t>
            </a:r>
            <a:r>
              <a:rPr sz="1500">
                <a:solidFill>
                  <a:srgbClr val="64748B"/>
                </a:solidFill>
                <a:latin typeface="Arial"/>
              </a:rPr>
              <a:t>El F1-Score subió del 24% (red estándar) al **81%** (nuestra red espacial). La morfología nuclear arriñonada es retenida exitosamente.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293B"/>
                </a:solidFill>
                <a:latin typeface="Arial"/>
              </a:rPr>
              <a:t>•  Eosinófilos (F1: 0.98): </a:t>
            </a:r>
            <a:r>
              <a:rPr sz="1500">
                <a:solidFill>
                  <a:srgbClr val="64748B"/>
                </a:solidFill>
                <a:latin typeface="Arial"/>
              </a:rPr>
              <a:t>La coloración y gránulos citoplasmáticos típicos se identifican con altísima sensibilidad en 28x28.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293B"/>
                </a:solidFill>
                <a:latin typeface="Arial"/>
              </a:rPr>
              <a:t>•  Neutrófilos (F1: 0.96): </a:t>
            </a:r>
            <a:r>
              <a:rPr sz="1500">
                <a:solidFill>
                  <a:srgbClr val="64748B"/>
                </a:solidFill>
                <a:latin typeface="Arial"/>
              </a:rPr>
              <a:t>El núcleo segmentado multilobulado se detecta robustamente.</a:t>
            </a:r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46304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Conclusiones del Avance (Hito 1) y Próximos Pasos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1828800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•  1. Viabilidad de la Resolución Nativa: </a:t>
            </a:r>
            <a:r>
              <a:rPr sz="1500">
                <a:solidFill>
                  <a:srgbClr val="64748B"/>
                </a:solidFill>
                <a:latin typeface="Arial"/>
              </a:rPr>
              <a:t>Demostramos empíricamente que clasificar células sanguíneas a 28x28 píxeles con alta precisión es perfectamente viable. Alcanzamos un 91.38% de exactitud global, superando a la red de 128x128.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•  2. Aporte de Diseño Innovador: </a:t>
            </a:r>
            <a:r>
              <a:rPr sz="1500">
                <a:solidFill>
                  <a:srgbClr val="64748B"/>
                </a:solidFill>
                <a:latin typeface="Arial"/>
              </a:rPr>
              <a:t>La re-estructuración ad-hoc de conv1 y maxpool solucionó el colapso temprano del campo receptivo. Rescatamos el F1-Score de monocitos del 24% al 81% y logramos plaquetas perfectas (1.00).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•  3. Sólida Regularización: </a:t>
            </a:r>
            <a:r>
              <a:rPr sz="1500">
                <a:solidFill>
                  <a:srgbClr val="64748B"/>
                </a:solidFill>
                <a:latin typeface="Arial"/>
              </a:rPr>
              <a:t>El pipeline de Data Augmentation y la regularización por pesos estabilizó la curva de validación sin sobreajuste.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•  4. Próximos Pasos (Camino al Hito 2): </a:t>
            </a:r>
            <a:r>
              <a:rPr sz="1500">
                <a:solidFill>
                  <a:srgbClr val="64748B"/>
                </a:solidFill>
                <a:latin typeface="Arial"/>
              </a:rPr>
              <a:t>Incorporaremos un modelo convolucional avanzado alternativo e implementaremos una arquitectura basada en Transformers Visuales (ViT / Swin) adaptada para procesar ambas escalas espaciales (28x28 y 128x128).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